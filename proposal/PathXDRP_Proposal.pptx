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05840"/>
            <a:ext cx="73152" cy="457200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 ·  Q1 BIOINFORMATICS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FA9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Pathway-masked Cross-attention Drug Response Predictor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calibrated, knowledge-grounded — and lightweight enough to run anywhere.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434840"/>
            <a:ext cx="2286000" cy="0"/>
          </a:xfrm>
          <a:prstGeom prst="line">
            <a:avLst/>
          </a:prstGeom>
          <a:noFill/>
          <a:ln w="19050">
            <a:solidFill>
              <a:srgbClr val="E88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 Hesham   ·   GNN Drug Discovery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901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Proposal ·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Pathway-masked Cross-attention  ·  Foundation Encoders  ·  Evidential Uncertainty  ·  Quantitative XAI  ·  Edge-Device Inference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CHALLENGE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Cancer drug response is hard to predict — and the cost of being wrong is enormous.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data and models meant to solve it leave most of the biology on the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747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82296" cy="33832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146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1546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$2.6B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96012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to develop a single oncology drug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4747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194560"/>
            <a:ext cx="82296" cy="33832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1546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 y</a:t>
            </a:r>
            <a:endParaRPr lang="en-US" sz="5600" dirty="0"/>
          </a:p>
        </p:txBody>
      </p:sp>
      <p:sp>
        <p:nvSpPr>
          <p:cNvPr id="15" name="Text 11"/>
          <p:cNvSpPr/>
          <p:nvPr/>
        </p:nvSpPr>
        <p:spPr>
          <a:xfrm>
            <a:off x="475488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target identification to FDA approval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2194560"/>
            <a:ext cx="34747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2194560"/>
            <a:ext cx="82296" cy="33832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5146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1546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5%</a:t>
            </a:r>
            <a:endParaRPr lang="en-US" sz="5600" dirty="0"/>
          </a:p>
        </p:txBody>
      </p:sp>
      <p:sp>
        <p:nvSpPr>
          <p:cNvPr id="20" name="Text 15"/>
          <p:cNvSpPr/>
          <p:nvPr/>
        </p:nvSpPr>
        <p:spPr>
          <a:xfrm>
            <a:off x="8549640" y="4526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oncology candidates make it through clinical trials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predictions in silico mean fewer dead-end trials in vivo. We need models that not only predict — but explain, and know when not to predict.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THIS IS UNSOLVED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drug-response models share three fundamental limits.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alone is a deal-breaker for clinical translation.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747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560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Black-box predictions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611880"/>
            <a:ext cx="45720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7947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GNN-based DRP models output a number with no biological reason. Clinicians can't act on a score they can't interrogate. Existing attention maps are descriptive, not benchmarked.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4747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60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Overconfident on novel inputs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4709160" y="3611880"/>
            <a:ext cx="45720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09160" y="37947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MSE training gives no calibrated uncertainty. The model is just as confident on a held-out scaffold as on its training distribution — exactly when caution matters most.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2194560"/>
            <a:ext cx="34747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50392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25603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Knowledge-blind architectures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8503920" y="3611880"/>
            <a:ext cx="45720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503920" y="37947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biology, gene-gene coregulation, and known drug targets exist as priors — but most models ignore them, learning correlations from scratch on a small (~150k-row) dataset.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OUR PROPOSAL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 — built around five mutually reinforcing ideas.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fixes a specific failure mode of today's models.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0" cy="384048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5468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drug-response model that explains its reasoning in the language biologists already speak — pathways, targets, mechanisms — and admits what it doesn't know.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5394960"/>
            <a:ext cx="45720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PATHXDRP THESIS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249424"/>
            <a:ext cx="594360" cy="5943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239572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Pathway-masked cross-attention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12280" y="25420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atoms attend over KEGG-grounded biological pathways.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3035808"/>
            <a:ext cx="594360" cy="5943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318211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29809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Foundation-model encoders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12280" y="33284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MolFormer · Graph-Mamba · GeneMamba · scGPT.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822192"/>
            <a:ext cx="594360" cy="5943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3968496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3767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evidential uncertainty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812280" y="4114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Aleatoric + epistemic decomposition for selective prediction.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35040" y="4608576"/>
            <a:ext cx="594360" cy="5943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4754880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2280" y="45537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XAI benchmark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812280" y="490118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MoA drugs scored against ground-truth targets.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035040" y="5394960"/>
            <a:ext cx="594360" cy="5943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5541264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12280" y="53400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Linear-time deployment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6812280" y="56875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Edge-device throughput, batch_size = 1 latency under 10 ms.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 — and where biology enters the model.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encoders meet at a knowledge-grounded attention bridge.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194560" cy="128016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SMILES → Graph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  ·  Graph-Mamba  ·  MolFormer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2194560" cy="128016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 → Pathways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956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PathwaySet  ·  GeneMamba  ·  scGPT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3108960"/>
            <a:ext cx="3657600" cy="15544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7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PATHWAY-MASKED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Cross-attention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KEGG-grounded mask · 370 pathway tokens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926080"/>
            <a:ext cx="914400" cy="9601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4846320"/>
            <a:ext cx="914400" cy="-9601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108960"/>
            <a:ext cx="3383280" cy="155448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HEAD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3456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IC50  +  Uncertainty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· σ²ₐₗ · σ²ₑₚ  (NIG-NLL)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886200"/>
            <a:ext cx="914400" cy="0"/>
          </a:xfrm>
          <a:prstGeom prst="line">
            <a:avLst/>
          </a:prstGeom>
          <a:noFill/>
          <a:ln w="25400">
            <a:solidFill>
              <a:srgbClr val="E882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atoms (Q) attend over biological pathway tokens (K, V) — the attention pattern is the explanation.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NOVELTY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Pathway-masked Cross-attention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is not a post-hoc lens — it is wired into the architecture.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atoms as Query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atom asks: "which biological pathways do I act on?"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tokens as Key/Value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401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KEGG pathways form the dictionary of possible mechanisms.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/ soft / no-mask modes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3159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ablation isolates the contribution of biological priors.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411480" cy="411480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892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Memory-efficient design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5230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to_dense_batch + head-parallel scoring → 16× less GPU memory.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2194560"/>
            <a:ext cx="4114800" cy="384048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2880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→ pathway attention is the model's reasoning trace, made native to the forward pass.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863840" y="4480560"/>
            <a:ext cx="45720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6177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regularisation pushes the attention to be sparse and pathway-specific — directly evaluable as an explanation.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NOVELTY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Foundation-model encoders for chemistry and biology.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training small encoders from scratch — borrow what's been pretrained on millions of examples.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82296" cy="18745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ENCODER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2697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MolFormer-XL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1.1B SMILES strings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3474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chemical-language backbone augments atom features with global molecular context.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219456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2194560"/>
            <a:ext cx="82296" cy="18745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688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ENCODER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269480" y="2697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Graph-Mamba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26948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Linear-time SSM over atom graph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75120" y="3474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quadratic attention with selective state-space modeling — a hybrid GAT + Bi-Mamba block.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29768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4297680"/>
            <a:ext cx="82296" cy="18745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720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ENCODER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463040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GeneMamba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146304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single cells, 65.7M params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68680" y="5577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Bi-Mamba foundation model captures gene-gene coregulation we currently throw away.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55080" y="4297680"/>
            <a:ext cx="5532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55080" y="4297680"/>
            <a:ext cx="82296" cy="18745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7200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94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ENCODER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269480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scGPT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726948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foundation model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675120" y="5577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ablation against GeneMamba — Transformer vs. SSM on the cell side, fair comparison.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NOVELTY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evidential uncertainty.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knows when it doesn't know — backed by a principled probabilistic loss.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DEEP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(μ, ν, α, β) — the parameters of a Normal-Inverse-Gamma — instead of a point estimate. The NIG-NLL loss replaces MSE; uncertainty drops out for free.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45720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UNCERTAINTY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Aleatoric — irreducible noise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73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/ (α − 1)  ·  intrinsic to the (drug, cell) pair.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Epistemic — model uncertainty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5504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8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/ (ν(α − 1))  ·  shrinks with more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2194560"/>
            <a:ext cx="4297680" cy="384048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3026664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9244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Risk-coverage curves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92440" y="3246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prediction count for accuracy on the fly.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73989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92440" y="3685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Selective prediction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092440" y="39593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score (drug, cell) pairs the model is unsure about.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53128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 detection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92440" y="46725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scaffold-blind / cell-blind cases by epistemic spike.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16636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92440" y="5111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Deep-ensemble decomposition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092440" y="53858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5-seed ensemble splits epistemic into model + data variance.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NOVELTY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XAI benchmark.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publishing pretty heatmaps — start publishing scores against ground truth.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82296" cy="38404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77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well-characterised oncology drugs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· MAPK · PI3K · CDK · BCR-ABL · HDAC · BCL-2 · DNA damage · microtubule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593592"/>
            <a:ext cx="118872" cy="11887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drug → IC50-sensitive cells, attribution maps generated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3977640"/>
            <a:ext cx="118872" cy="11887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3904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GDSC-curated targets + KEGG pathway label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4361688"/>
            <a:ext cx="118872" cy="11887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288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dataset shipped as data/processed/moa_benchmark.json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2194560"/>
            <a:ext cx="5349240" cy="384048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QUANTITATIVE METRICS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eyeballing.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537960" y="3337560"/>
            <a:ext cx="54864" cy="5029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93408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AUROC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32520" y="3291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genes by attribution; AUROC vs. known target set.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37960" y="3931920"/>
            <a:ext cx="54864" cy="5029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93408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Hit@5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732520" y="38862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curated KEGG pathway in the top-5 attended?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37960" y="4526280"/>
            <a:ext cx="54864" cy="5029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93408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Faithfulness suff.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732520" y="4480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Δ-prediction on removing low-attribution atoms.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537960" y="5120640"/>
            <a:ext cx="54864" cy="50292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93408" y="5074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Faithfulness comp.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732520" y="5074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Δ-prediction on removing high-attribution atoms.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NOVELTY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Linear-time inference for deployment.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drug-response model is useless if it only runs on a workstation.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82296" cy="228600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16×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GPU memory than naïve cross-attention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194560"/>
            <a:ext cx="82296" cy="228600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146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470916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SSM scales linearly with sequence length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9456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2194560"/>
            <a:ext cx="82296" cy="228600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146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 ms</a:t>
            </a:r>
            <a:endParaRPr lang="en-US" sz="4400" dirty="0"/>
          </a:p>
        </p:txBody>
      </p:sp>
      <p:sp>
        <p:nvSpPr>
          <p:cNvPr id="20" name="Text 15"/>
          <p:cNvSpPr/>
          <p:nvPr/>
        </p:nvSpPr>
        <p:spPr>
          <a:xfrm>
            <a:off x="850392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single-sample latency target on an RTX 3060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11064240" cy="141732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77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77240" y="5212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reproducible inference benchmark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scripts/benchmark_inference.py — sweeps every encoder combo, reports throughput, peak GPU memory, p95 latency, CPU-only feasibility.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VALIDATION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validation protocol that survives every reviewer's first complaint.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split regimes · five seeds · external transfer · ablation matrix.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60320"/>
            <a:ext cx="777240" cy="777240"/>
          </a:xfrm>
          <a:prstGeom prst="ellipse">
            <a:avLst/>
          </a:prstGeom>
          <a:solidFill>
            <a:srgbClr val="F7F2EB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43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06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split regimes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828800" y="3035808"/>
            <a:ext cx="36576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31546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·  cell-blind  ·  drug-blind  ·  scaffold-blind  ·  tissue-blind. Hardness gradient included on purpose.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219456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2560320"/>
            <a:ext cx="777240" cy="777240"/>
          </a:xfrm>
          <a:prstGeom prst="ellipse">
            <a:avLst/>
          </a:prstGeom>
          <a:solidFill>
            <a:srgbClr val="F7F2EB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606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Five-seed deep ensembles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635240" y="3035808"/>
            <a:ext cx="36576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31546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decomposes epistemic into model + data variance — and stabilises Q1-style PCC ± std reporting.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29768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663440"/>
            <a:ext cx="777240" cy="777240"/>
          </a:xfrm>
          <a:prstGeom prst="ellipse">
            <a:avLst/>
          </a:prstGeom>
          <a:solidFill>
            <a:srgbClr val="F7F2EB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463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709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transfer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1828800" y="5138928"/>
            <a:ext cx="36576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828800" y="52578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CCLE × CTRPv2 evaluation with z-score alignment. Asks: does the model survive the dataset shift?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355080" y="4297680"/>
            <a:ext cx="5532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675120" y="4663440"/>
            <a:ext cx="777240" cy="777240"/>
          </a:xfrm>
          <a:prstGeom prst="ellipse">
            <a:avLst/>
          </a:prstGeom>
          <a:solidFill>
            <a:srgbClr val="F7F2EB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8463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35240" y="4709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ablation matrix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7635240" y="5138928"/>
            <a:ext cx="36576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635240" y="52578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(drug × cell) encoder combos under identical train/eval. Isolates each contribution.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CONTRIBUTIONS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thesis adds to the literature.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deliverables, each independently publishable as an ablation.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82296" cy="77724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591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240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C1. Pathway-masked cross-attention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5603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channel for biological priors — released as an open module.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017520"/>
            <a:ext cx="82296" cy="77724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821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0632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C2. Encoder-ablation matrix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63040" y="33832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(drug × cell) combos benchmarked head-to-head on the same splits.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840480"/>
            <a:ext cx="82296" cy="77724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050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886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C3. Calibrated evidential PathXDRP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4206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DRP model to report ECE, risk-coverage, and OOD AUROC.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66344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663440"/>
            <a:ext cx="82296" cy="77724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82803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709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C4. Quantitative XAI benchmark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463040" y="50292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25-drug MoA dataset + 4 metrics — reusable by the community.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548640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48640" y="5486400"/>
            <a:ext cx="82296" cy="77724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5099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5532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C5. Inference benchmark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463040" y="58521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/ memory / latency table including edge-device feasibility.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229600" y="2194560"/>
            <a:ext cx="3383280" cy="3840480"/>
          </a:xfrm>
          <a:prstGeom prst="rect">
            <a:avLst/>
          </a:prstGeom>
          <a:solidFill>
            <a:srgbClr val="0E2A3F"/>
          </a:solidFill>
          <a:ln w="12700">
            <a:solidFill>
              <a:srgbClr val="0E2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514600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953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VENUE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95360" y="3401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Briefings in Bioinformatics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85953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IF ≈ 9.5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8595360" y="4572000"/>
            <a:ext cx="365760" cy="36576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595360" y="4709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Bioinformatics (OUP) · NeurIPS ML4H workshop track for the XAI dataset.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" cy="164592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phases from skeleton to manuscript.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0–2 complete · Phase 3 in motion · all later code already in 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7547" y="2907792"/>
            <a:ext cx="585216" cy="5852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754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&amp; environment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3167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0577" y="2907792"/>
            <a:ext cx="585216" cy="5852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057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7739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739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470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3607" y="2907792"/>
            <a:ext cx="585216" cy="5852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360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6042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042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9773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6637" y="2907792"/>
            <a:ext cx="585216" cy="585216"/>
          </a:xfrm>
          <a:prstGeom prst="ellipse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663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4345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 v0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4345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9667" y="2907792"/>
            <a:ext cx="585216" cy="585216"/>
          </a:xfrm>
          <a:prstGeom prst="ellipse">
            <a:avLst/>
          </a:prstGeom>
          <a:solidFill>
            <a:srgbClr val="7A8392"/>
          </a:solidFill>
          <a:ln w="12700">
            <a:solidFill>
              <a:srgbClr val="7A83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966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2648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ablation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6379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2697" y="2907792"/>
            <a:ext cx="585216" cy="585216"/>
          </a:xfrm>
          <a:prstGeom prst="ellipse">
            <a:avLst/>
          </a:prstGeom>
          <a:solidFill>
            <a:srgbClr val="7A8392"/>
          </a:solidFill>
          <a:ln w="12700">
            <a:solidFill>
              <a:srgbClr val="7A83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269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0951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+ ext.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0951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84682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45727" y="2907792"/>
            <a:ext cx="585216" cy="585216"/>
          </a:xfrm>
          <a:prstGeom prst="ellipse">
            <a:avLst/>
          </a:prstGeom>
          <a:solidFill>
            <a:srgbClr val="7A8392"/>
          </a:solidFill>
          <a:ln w="12700">
            <a:solidFill>
              <a:srgbClr val="7A83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4572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89254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XAI benchmark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9254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29850" y="2926080"/>
            <a:ext cx="0" cy="109728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8757" y="2907792"/>
            <a:ext cx="585216" cy="585216"/>
          </a:xfrm>
          <a:prstGeom prst="ellipse">
            <a:avLst/>
          </a:prstGeom>
          <a:solidFill>
            <a:srgbClr val="7A8392"/>
          </a:solidFill>
          <a:ln w="12700">
            <a:solidFill>
              <a:srgbClr val="7A839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28757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275570" y="3611880"/>
            <a:ext cx="1291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Manuscript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75570" y="3913632"/>
            <a:ext cx="1291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4572000"/>
            <a:ext cx="54864" cy="13258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57200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now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13232" y="4937760"/>
            <a:ext cx="332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PathXDRP gate run on random / seed 0 / fold 0. PCC tracking ≥ 0.93.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328160" y="4572000"/>
            <a:ext cx="54864" cy="13258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2752" y="457200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month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492752" y="4937760"/>
            <a:ext cx="332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ablation sweep (Phase 4) and full 5×5 seed-split matrix (Phase 5).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107680" y="4572000"/>
            <a:ext cx="54864" cy="132588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72272" y="457200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272272" y="4937760"/>
            <a:ext cx="332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benchmark with the 25-drug MoA dataset (Phase 6) and write-up (Phase 7).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6350">
            <a:solidFill>
              <a:srgbClr val="D9D2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3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2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it. Explain it. Calibrate it. Deploy it.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2788920"/>
            <a:ext cx="1371600" cy="54864"/>
          </a:xfrm>
          <a:prstGeom prst="rect">
            <a:avLst/>
          </a:prstGeom>
          <a:solidFill>
            <a:srgbClr val="E8826A"/>
          </a:solidFill>
          <a:ln w="12700">
            <a:solidFill>
              <a:srgbClr val="E882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017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2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PathXDRP brings four orthogonal advances into a single coherent system — and a fifth pillar (linear-time inference) that makes the whole thing portable.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4572000"/>
            <a:ext cx="2377440" cy="457200"/>
          </a:xfrm>
          <a:prstGeom prst="rect">
            <a:avLst/>
          </a:prstGeom>
          <a:solidFill>
            <a:srgbClr val="163C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Pathway-masked cross-attention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4572000"/>
            <a:ext cx="1965960" cy="457200"/>
          </a:xfrm>
          <a:prstGeom prst="rect">
            <a:avLst/>
          </a:prstGeom>
          <a:solidFill>
            <a:srgbClr val="163C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4572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encoders (×4)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4572000"/>
            <a:ext cx="1828800" cy="457200"/>
          </a:xfrm>
          <a:prstGeom prst="rect">
            <a:avLst/>
          </a:prstGeom>
          <a:solidFill>
            <a:srgbClr val="163C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uncertainty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572000"/>
            <a:ext cx="1417320" cy="457200"/>
          </a:xfrm>
          <a:prstGeom prst="rect">
            <a:avLst/>
          </a:prstGeom>
          <a:solidFill>
            <a:srgbClr val="163C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4572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XAI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4572000"/>
            <a:ext cx="1760220" cy="457200"/>
          </a:xfrm>
          <a:prstGeom prst="rect">
            <a:avLst/>
          </a:prstGeom>
          <a:solidFill>
            <a:srgbClr val="163C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45720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Linear-time inference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 Hesham   ·   aly.hesham22197@gmail.com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Proposal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PathXDRP — Research Proposal</dc:title>
  <dc:subject>PptxGenJS Presentation</dc:subject>
  <dc:creator>Aly Hesham</dc:creator>
  <cp:lastModifiedBy>Aly Hesham</cp:lastModifiedBy>
  <cp:revision>1</cp:revision>
  <dcterms:created xsi:type="dcterms:W3CDTF">2026-05-04T15:31:43Z</dcterms:created>
  <dcterms:modified xsi:type="dcterms:W3CDTF">2026-05-04T15:31:43Z</dcterms:modified>
</cp:coreProperties>
</file>